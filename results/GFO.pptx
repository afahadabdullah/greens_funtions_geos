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9" r:id="rId4"/>
    <p:sldId id="271" r:id="rId5"/>
    <p:sldId id="273" r:id="rId6"/>
    <p:sldId id="264" r:id="rId7"/>
    <p:sldId id="263" r:id="rId8"/>
    <p:sldId id="265" r:id="rId9"/>
    <p:sldId id="281" r:id="rId10"/>
    <p:sldId id="258" r:id="rId11"/>
    <p:sldId id="259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60" r:id="rId20"/>
    <p:sldId id="261" r:id="rId21"/>
    <p:sldId id="26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7E5519-4FD6-FA4B-9446-1E96231E5DF6}" v="87" dt="2026-02-23T01:47:30.912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2"/>
    <p:restoredTop sz="94694"/>
  </p:normalViewPr>
  <p:slideViewPr>
    <p:cSldViewPr snapToGrid="0">
      <p:cViewPr varScale="1">
        <p:scale>
          <a:sx n="120" d="100"/>
          <a:sy n="120" d="100"/>
        </p:scale>
        <p:origin x="1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2300-3B22-1191-AC53-754805C0D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BC5CAA-83D7-1746-929E-4B1471423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4FC5F-CCE7-8AB6-F347-348DDC53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6820-CD4C-C948-B1EA-0A370D5460C7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07CB8-2B1F-1BA9-74CE-2BBC2975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9DC5A-70F2-1DD0-34D0-71E4DB906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CBFB6-4087-5F40-8E65-1F360C647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9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004DD-468A-44A0-49A0-9AE83308B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ECF60-7037-35AD-B963-22F21CB58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8D8CC-AB76-A1AD-12DC-CA5ACAA17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6820-CD4C-C948-B1EA-0A370D5460C7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B06D8-C169-1834-3951-69D80D4B8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FEDEB-5606-73D6-6B1E-5D112F2C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CBFB6-4087-5F40-8E65-1F360C647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00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502D7-AE7F-0F56-F80A-E204766E7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D0CCE-A551-5D57-A3B8-B852192F7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9F2E0-AB98-2439-1D26-E2178EF6C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6820-CD4C-C948-B1EA-0A370D5460C7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1AE18-D8C4-C98B-D1A8-D8D318C5A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415F9-9943-4DCB-963B-2FBCACB73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CBFB6-4087-5F40-8E65-1F360C647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75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218F6-8D6F-754D-0B24-D9DFE196F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882CE-9C13-C098-19DF-F881C7E0F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9080F-B4AF-9B1C-6BDE-379D8462F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84413-A4CF-D346-7CF3-324609D2D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6820-CD4C-C948-B1EA-0A370D5460C7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9093C-A32B-7249-3920-7EB301A26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00EE4-21D5-70C4-F9D5-E97B85798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CBFB6-4087-5F40-8E65-1F360C647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57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4BD92-F70C-3F03-596A-41DE76B7E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228ED-F031-E6CA-61AA-ACF0F7728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AF8E7-8188-3433-2C62-AB74E4767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2B23D-FFF0-CB62-74CE-1774C7A91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4CC6A3-AAB9-FB5F-73B4-06F08DE2C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9DB99B-3CF3-511C-533E-54CE9ACA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6820-CD4C-C948-B1EA-0A370D5460C7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69F6C4-DF77-E85F-D8B8-CF0DABB04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C636F-F15E-6B8A-9BE8-19FFEDB39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CBFB6-4087-5F40-8E65-1F360C647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71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32708-3898-0BD0-D735-CB9630E78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9B54EE-5F61-EDBB-9705-3D88C19AC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6820-CD4C-C948-B1EA-0A370D5460C7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7030DD-3C77-C480-B50B-88347B221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DE89D-4E8A-79F2-1FDC-B3EDD8A7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CBFB6-4087-5F40-8E65-1F360C647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29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C537D7-A0C3-6515-DD02-BD237C3DE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6820-CD4C-C948-B1EA-0A370D5460C7}" type="datetimeFigureOut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6AF4CD-51FF-3188-52D3-6F799211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EF452-B93D-E65A-3444-B7AC7AC0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CBFB6-4087-5F40-8E65-1F360C647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8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DC91B-7088-EF8B-D050-ED8A700C2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76FDE-6C6F-227E-CBBA-0AD7A8E9C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C99A7D-E37C-61AD-228C-F7F92B346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D3ED6-3AAC-9401-A740-A8BB8400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6820-CD4C-C948-B1EA-0A370D5460C7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46AAE-8BFD-763B-CDA1-76D698E4A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FD8FD-5445-3BF3-6F2F-4687F1818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CBFB6-4087-5F40-8E65-1F360C647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6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66F19-10E5-AAD3-6C29-80660F24E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BA390A-128E-6368-606B-BAE0389D9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A2E4A1-43D1-577A-783E-52A4AF7B2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7540B-8828-E176-BDE9-5FE999286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6820-CD4C-C948-B1EA-0A370D5460C7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BA3EB-C359-3B73-090A-0489F05A4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77DCA-90D5-9850-74E0-546E2694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CBFB6-4087-5F40-8E65-1F360C647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5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EEBE-2568-1E65-C4F7-164C070BE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669B9-6ED4-A489-B3CD-CC4F16539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2F5B9-3D24-2586-F6EB-30B2F5031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6820-CD4C-C948-B1EA-0A370D5460C7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95A8C-49E6-48CB-B30B-FD03D992D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49D33-42E5-DE83-95D1-D5D425020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CBFB6-4087-5F40-8E65-1F360C647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30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84F9FF-F22F-3950-09CF-3D80FEA011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446EE-4AFA-844F-C2CA-11DB4C799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D3364-235C-DA20-AA8B-08591C9C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6820-CD4C-C948-B1EA-0A370D5460C7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13D24-989D-62A2-72EA-975FF7A20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8D9AF-C869-0945-C716-6E04DBE85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CBFB6-4087-5F40-8E65-1F360C647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45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AE6417-EB22-B2F5-1381-D6CEE9D79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9056-9571-05EA-3B77-17DD85E37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CFE0C-2325-295F-FE13-627D1F8567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0B6820-CD4C-C948-B1EA-0A370D5460C7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C8E05-1705-FF7F-5A31-C1CF0E292A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7A420-2D64-1133-C429-489D93528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CBFB6-4087-5F40-8E65-1F360C647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44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5D904-555B-EE30-636E-85D3B7910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/>
              <a:t>Green’s </a:t>
            </a:r>
            <a:r>
              <a:rPr lang="en-US" dirty="0"/>
              <a:t>Function Optimization (GFO)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GEOS-</a:t>
            </a:r>
            <a:r>
              <a:rPr lang="en-US" dirty="0" err="1"/>
              <a:t>MITgcm</a:t>
            </a:r>
            <a:r>
              <a:rPr lang="en-US" dirty="0"/>
              <a:t> v11.7.0</a:t>
            </a:r>
            <a:br>
              <a:rPr lang="en-US" dirty="0"/>
            </a:br>
            <a:r>
              <a:rPr lang="en-US" dirty="0"/>
              <a:t>C90-LLC90-LM91</a:t>
            </a:r>
          </a:p>
        </p:txBody>
      </p:sp>
    </p:spTree>
    <p:extLst>
      <p:ext uri="{BB962C8B-B14F-4D97-AF65-F5344CB8AC3E}">
        <p14:creationId xmlns:p14="http://schemas.microsoft.com/office/powerpoint/2010/main" val="312640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Chart, line chart&#10;&#10;AI-generated content may be incorrect.">
            <a:extLst>
              <a:ext uri="{FF2B5EF4-FFF2-40B4-BE49-F238E27FC236}">
                <a16:creationId xmlns:a16="http://schemas.microsoft.com/office/drawing/2014/main" id="{38B473F7-5943-5E2D-FCAB-6100B8DEC3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45" r="715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FEB771-A4D4-3E53-28B5-CC404063081F}"/>
              </a:ext>
            </a:extLst>
          </p:cNvPr>
          <p:cNvSpPr txBox="1"/>
          <p:nvPr/>
        </p:nvSpPr>
        <p:spPr>
          <a:xfrm>
            <a:off x="100361" y="33453"/>
            <a:ext cx="2710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Global Mean TS</a:t>
            </a:r>
          </a:p>
        </p:txBody>
      </p:sp>
    </p:spTree>
    <p:extLst>
      <p:ext uri="{BB962C8B-B14F-4D97-AF65-F5344CB8AC3E}">
        <p14:creationId xmlns:p14="http://schemas.microsoft.com/office/powerpoint/2010/main" val="122684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CD4DAB-F3C6-E555-EE23-C1B18728FDEE}"/>
                  </a:ext>
                </a:extLst>
              </p:cNvPr>
              <p:cNvSpPr txBox="1"/>
              <p:nvPr/>
            </p:nvSpPr>
            <p:spPr>
              <a:xfrm>
                <a:off x="1086315" y="1957245"/>
                <a:ext cx="10019370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200"/>
                  </a:spcAft>
                  <a:buNone/>
                </a:pPr>
                <a:r>
                  <a:rPr lang="en-US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The model state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 can be approximated as a linear function of parameter perturbations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l-GR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b="1" i="0">
                          <a:latin typeface="Cambria Math" panose="02040503050406030204" pitchFamily="18" charset="0"/>
                        </a:rPr>
                        <m:t>𝐆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𝜂</m:t>
                      </m:r>
                    </m:oMath>
                  </m:oMathPara>
                </a14:m>
                <a:endParaRPr lang="ar-AE" b="0" dirty="0"/>
              </a:p>
              <a:p>
                <a:pPr algn="l">
                  <a:spcAft>
                    <a:spcPts val="1200"/>
                  </a:spcAft>
                  <a:buNone/>
                </a:pPr>
                <a:r>
                  <a:rPr lang="en-US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Where: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 </a:t>
                </a:r>
                <a:r>
                  <a:rPr lang="en-US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is the </a:t>
                </a:r>
                <a:r>
                  <a:rPr lang="en-US" b="1" i="0" dirty="0">
                    <a:solidFill>
                      <a:srgbClr val="3B3B3B"/>
                    </a:solidFill>
                    <a:effectLst/>
                    <a:latin typeface="-apple-system"/>
                  </a:rPr>
                  <a:t>unperturbed (reference) model state</a:t>
                </a:r>
                <a:r>
                  <a:rPr lang="en-US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𝐆</m:t>
                    </m:r>
                  </m:oMath>
                </a14:m>
                <a:r>
                  <a:rPr lang="en-US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 is the </a:t>
                </a:r>
                <a:r>
                  <a:rPr lang="en-US" b="1" i="0" dirty="0">
                    <a:solidFill>
                      <a:srgbClr val="3B3B3B"/>
                    </a:solidFill>
                    <a:effectLst/>
                    <a:latin typeface="-apple-system"/>
                  </a:rPr>
                  <a:t>Sensitivity Matrix</a:t>
                </a:r>
                <a:r>
                  <a:rPr lang="en-US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 (Green's Functions). Each column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 of 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𝐆</m:t>
                    </m:r>
                  </m:oMath>
                </a14:m>
                <a:r>
                  <a:rPr lang="en-US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 represents the change in model state due to a perturbation in parameter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ar-AE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 </a:t>
                </a:r>
                <a:r>
                  <a:rPr lang="en-US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is a vector of </a:t>
                </a:r>
                <a:r>
                  <a:rPr lang="en-US" b="1" i="0" dirty="0">
                    <a:solidFill>
                      <a:srgbClr val="3B3B3B"/>
                    </a:solidFill>
                    <a:effectLst/>
                    <a:latin typeface="-apple-system"/>
                  </a:rPr>
                  <a:t>weights</a:t>
                </a:r>
                <a:r>
                  <a:rPr lang="en-US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 (participation factors) for each experimental perturbation.</a:t>
                </a:r>
              </a:p>
              <a:p>
                <a:pPr algn="l">
                  <a:spcAft>
                    <a:spcPts val="1200"/>
                  </a:spcAft>
                  <a:buNone/>
                </a:pPr>
                <a:endParaRPr lang="en-US" b="0" i="0" dirty="0">
                  <a:solidFill>
                    <a:srgbClr val="3B3B3B"/>
                  </a:solidFill>
                  <a:effectLst/>
                  <a:latin typeface="-apple-system"/>
                </a:endParaRPr>
              </a:p>
              <a:p>
                <a:pPr algn="l">
                  <a:spcAft>
                    <a:spcPts val="1200"/>
                  </a:spcAft>
                  <a:buNone/>
                </a:pPr>
                <a:r>
                  <a:rPr lang="en-US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The goal of the optimization is to find the optimal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 that brings the model state closest to observations.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CD4DAB-F3C6-E555-EE23-C1B18728F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315" y="1957245"/>
                <a:ext cx="10019370" cy="3046988"/>
              </a:xfrm>
              <a:prstGeom prst="rect">
                <a:avLst/>
              </a:prstGeom>
              <a:blipFill>
                <a:blip r:embed="rId2"/>
                <a:stretch>
                  <a:fillRect l="-506" t="-830" b="-2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0B0A645-2160-9D24-E523-897D89F2B926}"/>
              </a:ext>
            </a:extLst>
          </p:cNvPr>
          <p:cNvSpPr txBox="1"/>
          <p:nvPr/>
        </p:nvSpPr>
        <p:spPr>
          <a:xfrm>
            <a:off x="301083" y="200721"/>
            <a:ext cx="8978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GFO</a:t>
            </a:r>
          </a:p>
        </p:txBody>
      </p:sp>
    </p:spTree>
    <p:extLst>
      <p:ext uri="{BB962C8B-B14F-4D97-AF65-F5344CB8AC3E}">
        <p14:creationId xmlns:p14="http://schemas.microsoft.com/office/powerpoint/2010/main" val="290130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71889-44E9-9016-64FF-15A8CAE8E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81DED7-C105-5FDE-8084-38180D3C6C01}"/>
                  </a:ext>
                </a:extLst>
              </p:cNvPr>
              <p:cNvSpPr txBox="1"/>
              <p:nvPr/>
            </p:nvSpPr>
            <p:spPr>
              <a:xfrm>
                <a:off x="1086315" y="1065190"/>
                <a:ext cx="10019370" cy="51263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Climatological (Seasonal) Anomaly</a:t>
                </a:r>
                <a:r>
                  <a:rPr lang="en-US" dirty="0"/>
                  <a:t> vector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endParaRPr lang="en-US" dirty="0"/>
              </a:p>
              <a:p>
                <a:r>
                  <a:rPr lang="en-US" dirty="0"/>
                  <a:t>The loss function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dirty="0"/>
                  <a:t> is defined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𝐆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𝜂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𝐐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We seek a set of weights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 such that the linear combination of our sensitivity vectors 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 best matches this anomaly.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b="1">
                            <a:latin typeface="Cambria Math" panose="02040503050406030204" pitchFamily="18" charset="0"/>
                          </a:rPr>
                          <m:t>𝐆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US" dirty="0"/>
                  <a:t>This is the </a:t>
                </a:r>
                <a:r>
                  <a:rPr lang="en-US" b="1" dirty="0"/>
                  <a:t>Residual Error</a:t>
                </a:r>
                <a:r>
                  <a:rPr lang="en-US" dirty="0"/>
                  <a:t>. It represents the difference between the observed anomaly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) and the model's predicted response (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). We want this to be as small as possible.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ar-AE" dirty="0"/>
                  <a:t>: </a:t>
                </a:r>
                <a:r>
                  <a:rPr lang="en-US" dirty="0"/>
                  <a:t>Normalization of data. This ensures that we normalize different physical units.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ar-AE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ar-AE" dirty="0"/>
                  <a:t>: </a:t>
                </a:r>
                <a:r>
                  <a:rPr lang="en-US" dirty="0"/>
                  <a:t>The </a:t>
                </a:r>
                <a:r>
                  <a:rPr lang="en-US" b="1" dirty="0"/>
                  <a:t>Regularization Term</a:t>
                </a:r>
                <a:r>
                  <a:rPr lang="en-US" dirty="0"/>
                  <a:t>. This prevents "overfitting." Without this, the math might suggest wild parameter changes to fix tiny noise in the observations.</a:t>
                </a:r>
              </a:p>
              <a:p>
                <a:endParaRPr lang="en-US" dirty="0"/>
              </a:p>
              <a:p>
                <a:endParaRPr lang="ar-AE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81DED7-C105-5FDE-8084-38180D3C6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315" y="1065190"/>
                <a:ext cx="10019370" cy="5126340"/>
              </a:xfrm>
              <a:prstGeom prst="rect">
                <a:avLst/>
              </a:prstGeom>
              <a:blipFill>
                <a:blip r:embed="rId2"/>
                <a:stretch>
                  <a:fillRect l="-506" t="-743" b="-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1A4843C-46EF-00DF-1D5A-98D4CE49F581}"/>
              </a:ext>
            </a:extLst>
          </p:cNvPr>
          <p:cNvSpPr txBox="1"/>
          <p:nvPr/>
        </p:nvSpPr>
        <p:spPr>
          <a:xfrm>
            <a:off x="301083" y="200721"/>
            <a:ext cx="8978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GFO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59E7EB-AC2D-8137-DE97-232491F8C97D}"/>
                  </a:ext>
                </a:extLst>
              </p:cNvPr>
              <p:cNvSpPr txBox="1"/>
              <p:nvPr/>
            </p:nvSpPr>
            <p:spPr>
              <a:xfrm>
                <a:off x="122662" y="541970"/>
                <a:ext cx="64677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 </a:t>
                </a:r>
                <a:r>
                  <a:rPr lang="en-US" b="1" dirty="0"/>
                  <a:t>Observations</a:t>
                </a:r>
                <a:r>
                  <a:rPr lang="en-US" dirty="0"/>
                  <a:t> 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) and the </a:t>
                </a:r>
                <a:r>
                  <a:rPr lang="en-US" b="1" dirty="0"/>
                  <a:t>Reference Run</a:t>
                </a:r>
                <a:r>
                  <a:rPr lang="en-US" dirty="0"/>
                  <a:t> 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59E7EB-AC2D-8137-DE97-232491F8C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62" y="541970"/>
                <a:ext cx="6467707" cy="369332"/>
              </a:xfrm>
              <a:prstGeom prst="rect">
                <a:avLst/>
              </a:prstGeom>
              <a:blipFill>
                <a:blip r:embed="rId3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0F7829-6A07-4B22-0964-E4D91084E606}"/>
                  </a:ext>
                </a:extLst>
              </p:cNvPr>
              <p:cNvSpPr txBox="1"/>
              <p:nvPr/>
            </p:nvSpPr>
            <p:spPr>
              <a:xfrm>
                <a:off x="3841595" y="5719071"/>
                <a:ext cx="6099716" cy="11939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200"/>
                  </a:spcAft>
                  <a:buNone/>
                </a:pPr>
                <a:r>
                  <a:rPr lang="en-US" b="1" i="0" dirty="0">
                    <a:solidFill>
                      <a:srgbClr val="3B3B3B"/>
                    </a:solidFill>
                    <a:effectLst/>
                    <a:latin typeface="KaTeX_Main"/>
                  </a:rPr>
                  <a:t>Observed Error ≈ Sum of Parameter Effects</a:t>
                </a:r>
                <a:endParaRPr lang="en-US" b="1" i="0" dirty="0">
                  <a:solidFill>
                    <a:srgbClr val="3B3B3B"/>
                  </a:solidFill>
                  <a:effectLst/>
                  <a:latin typeface="-apple-system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0F7829-6A07-4B22-0964-E4D91084E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595" y="5719071"/>
                <a:ext cx="6099716" cy="1193917"/>
              </a:xfrm>
              <a:prstGeom prst="rect">
                <a:avLst/>
              </a:prstGeom>
              <a:blipFill>
                <a:blip r:embed="rId4"/>
                <a:stretch>
                  <a:fillRect l="-832" t="-43158" b="-10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4139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1B8AC-4139-AF65-1005-8D5675C46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6205E34-D550-1B65-FA69-BFD412811C32}"/>
              </a:ext>
            </a:extLst>
          </p:cNvPr>
          <p:cNvSpPr txBox="1"/>
          <p:nvPr/>
        </p:nvSpPr>
        <p:spPr>
          <a:xfrm>
            <a:off x="301083" y="200721"/>
            <a:ext cx="2779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Target Variables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819E56-E5A6-50BD-4530-A8A14286E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503014"/>
              </p:ext>
            </p:extLst>
          </p:nvPr>
        </p:nvGraphicFramePr>
        <p:xfrm>
          <a:off x="880947" y="723941"/>
          <a:ext cx="10615961" cy="5939760"/>
        </p:xfrm>
        <a:graphic>
          <a:graphicData uri="http://schemas.openxmlformats.org/drawingml/2006/table">
            <a:tbl>
              <a:tblPr/>
              <a:tblGrid>
                <a:gridCol w="3088852">
                  <a:extLst>
                    <a:ext uri="{9D8B030D-6E8A-4147-A177-3AD203B41FA5}">
                      <a16:colId xmlns:a16="http://schemas.microsoft.com/office/drawing/2014/main" val="250156847"/>
                    </a:ext>
                  </a:extLst>
                </a:gridCol>
                <a:gridCol w="1568643">
                  <a:extLst>
                    <a:ext uri="{9D8B030D-6E8A-4147-A177-3AD203B41FA5}">
                      <a16:colId xmlns:a16="http://schemas.microsoft.com/office/drawing/2014/main" val="20582267"/>
                    </a:ext>
                  </a:extLst>
                </a:gridCol>
                <a:gridCol w="1180202">
                  <a:extLst>
                    <a:ext uri="{9D8B030D-6E8A-4147-A177-3AD203B41FA5}">
                      <a16:colId xmlns:a16="http://schemas.microsoft.com/office/drawing/2014/main" val="1324545339"/>
                    </a:ext>
                  </a:extLst>
                </a:gridCol>
                <a:gridCol w="4778264">
                  <a:extLst>
                    <a:ext uri="{9D8B030D-6E8A-4147-A177-3AD203B41FA5}">
                      <a16:colId xmlns:a16="http://schemas.microsoft.com/office/drawing/2014/main" val="1185098977"/>
                    </a:ext>
                  </a:extLst>
                </a:gridCol>
              </a:tblGrid>
              <a:tr h="2971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Years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427333"/>
                  </a:ext>
                </a:extLst>
              </a:tr>
              <a:tr h="52075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 ice fraction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MERRA-2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2009-2018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FRSEAICE (GEOS)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32458"/>
                  </a:ext>
                </a:extLst>
              </a:tr>
              <a:tr h="52075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 surface shortwave radiation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CERES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2009-2018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Surface_net_downward_shortwave_flux (SWGNET) (GEOS)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67227"/>
                  </a:ext>
                </a:extLst>
              </a:tr>
              <a:tr h="83639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 surface longwave radiation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CERES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2009-2018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Surface_absorbed_longwave_radiation (LWGNET) (GEOS)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SFCEM-LWS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560779"/>
                  </a:ext>
                </a:extLst>
              </a:tr>
              <a:tr h="967975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U200/T300/H500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MERRA-2</a:t>
                      </a:r>
                      <a:br>
                        <a:rPr lang="en-US" sz="14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2009-2018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t">
                        <a:buNone/>
                      </a:pPr>
                      <a:br>
                        <a:rPr lang="en-US" sz="14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br>
                        <a:rPr lang="en-US" sz="14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GEOS</a:t>
                      </a: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798223"/>
                  </a:ext>
                </a:extLst>
              </a:tr>
              <a:tr h="52075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T2M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HadCRUT4 2m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2009-2018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T2m (GEOS)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237267"/>
                  </a:ext>
                </a:extLst>
              </a:tr>
              <a:tr h="52075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 surface temperature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ECCO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2009-2018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br>
                        <a:rPr lang="en-US" sz="14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THETA (</a:t>
                      </a:r>
                      <a:r>
                        <a:rPr lang="en-US" sz="1400" b="0" i="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MITgcm</a:t>
                      </a:r>
                      <a:r>
                        <a:rPr lang="en-US" sz="14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677679"/>
                  </a:ext>
                </a:extLst>
              </a:tr>
              <a:tr h="52075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 surface salinity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ECCO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2009-2018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br>
                        <a:rPr lang="en-US" sz="14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SSS (</a:t>
                      </a:r>
                      <a:r>
                        <a:rPr lang="en-US" sz="1400" b="0" i="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MITgcm</a:t>
                      </a:r>
                      <a:r>
                        <a:rPr lang="en-US" sz="14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92789"/>
                  </a:ext>
                </a:extLst>
              </a:tr>
              <a:tr h="52075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THETA at 300m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ECCO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2009-2018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br>
                        <a:rPr lang="en-US" sz="14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THETA (</a:t>
                      </a:r>
                      <a:r>
                        <a:rPr lang="en-US" sz="1400" b="0" i="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MITgcm</a:t>
                      </a:r>
                      <a:r>
                        <a:rPr lang="en-US" sz="14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17343"/>
                  </a:ext>
                </a:extLst>
              </a:tr>
              <a:tr h="707337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Salt at 300m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ECCO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2009-2018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br>
                        <a:rPr lang="en-US" sz="14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SSS (</a:t>
                      </a:r>
                      <a:r>
                        <a:rPr lang="en-US" sz="1400" b="0" i="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MITgcm</a:t>
                      </a:r>
                      <a:r>
                        <a:rPr lang="en-US" sz="14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45099" marR="45099" marT="45099" marB="4509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48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1892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7B9BD9-EC03-785D-659C-7A68FC369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BB327E-0AF9-AA32-E8AF-9D240ED6A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095401"/>
              </p:ext>
            </p:extLst>
          </p:nvPr>
        </p:nvGraphicFramePr>
        <p:xfrm>
          <a:off x="1745884" y="643466"/>
          <a:ext cx="8700234" cy="557108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322296">
                  <a:extLst>
                    <a:ext uri="{9D8B030D-6E8A-4147-A177-3AD203B41FA5}">
                      <a16:colId xmlns:a16="http://schemas.microsoft.com/office/drawing/2014/main" val="766481622"/>
                    </a:ext>
                  </a:extLst>
                </a:gridCol>
                <a:gridCol w="2322296">
                  <a:extLst>
                    <a:ext uri="{9D8B030D-6E8A-4147-A177-3AD203B41FA5}">
                      <a16:colId xmlns:a16="http://schemas.microsoft.com/office/drawing/2014/main" val="309384119"/>
                    </a:ext>
                  </a:extLst>
                </a:gridCol>
                <a:gridCol w="2033886">
                  <a:extLst>
                    <a:ext uri="{9D8B030D-6E8A-4147-A177-3AD203B41FA5}">
                      <a16:colId xmlns:a16="http://schemas.microsoft.com/office/drawing/2014/main" val="1577268216"/>
                    </a:ext>
                  </a:extLst>
                </a:gridCol>
                <a:gridCol w="2021756">
                  <a:extLst>
                    <a:ext uri="{9D8B030D-6E8A-4147-A177-3AD203B41FA5}">
                      <a16:colId xmlns:a16="http://schemas.microsoft.com/office/drawing/2014/main" val="3272601750"/>
                    </a:ext>
                  </a:extLst>
                </a:gridCol>
              </a:tblGrid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exp_name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parameter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Reference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Perturbed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102787700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GF02_TURN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TURNRHCRIT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726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850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3421630825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dirty="0">
                          <a:effectLst/>
                        </a:rPr>
                        <a:t>GF03_ENTR</a:t>
                      </a:r>
                      <a:endParaRPr lang="en-US" sz="1100" dirty="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ENTR_DP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0.0001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0.0004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546808199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GF04_WBF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WBFFACTOR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0.091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0.3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2188574722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dirty="0">
                          <a:effectLst/>
                        </a:rPr>
                        <a:t>GF05_DCS</a:t>
                      </a:r>
                      <a:endParaRPr lang="en-US" sz="1100" dirty="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DCS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0.00029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0.00025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812309665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GF06_DUST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FDROP_DUST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0.5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0.1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2121480768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GF07_DCNV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DROPSZCNV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2.5e-5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5e-5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2153430006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GF08_FSOOT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FDROP_SOOT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0.05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0.09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2176358570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GF09_MINCN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MINCDNC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52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25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3763427789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GF10_TBRAD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TURB_BETA_RAD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0.2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0.3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1503032550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GF11_TRBKH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TURB_KHRADFAC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0.85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0.5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258260554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GF12_MINRH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MINRHCRIT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0.89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0.8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1490027981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GF13_QRC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QRC_CRIT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0.0002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0.0004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2879560333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GF14_RKM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RKM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8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12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3699290383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GF15_AUT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AUT_SCALE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1.7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0.5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511880448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GF16_UIS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UISCALE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1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0.75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3287525941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GF17_CAHMAX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CICE_AH_MAX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0.3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0.2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3152303663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GF18_ALBICEV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ALBICEV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0.78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0.73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2461898406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GF19_BMDL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VSLfactor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1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0.8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2518129145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GF20_CH1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Charnok1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2.03e-06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2.842e-06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3852853837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GF21_CH2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Charnok2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0.00215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0.00315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490313514"/>
                  </a:ext>
                </a:extLst>
              </a:tr>
              <a:tr h="2532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</a:rPr>
                        <a:t>GF22_CQF</a:t>
                      </a:r>
                      <a:endParaRPr lang="en-US" sz="1100">
                        <a:effectLst/>
                      </a:endParaRP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CQfactor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1</a:t>
                      </a:r>
                    </a:p>
                  </a:txBody>
                  <a:tcPr marL="53797" marR="53797" marT="26898" marB="268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effectLst/>
                        </a:rPr>
                        <a:t>0.5</a:t>
                      </a:r>
                    </a:p>
                  </a:txBody>
                  <a:tcPr marL="53797" marR="53797" marT="26898" marB="26898" anchor="ctr"/>
                </a:tc>
                <a:extLst>
                  <a:ext uri="{0D108BD9-81ED-4DB2-BD59-A6C34878D82A}">
                    <a16:rowId xmlns:a16="http://schemas.microsoft.com/office/drawing/2014/main" val="92675166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8377D7E-D133-E230-B149-219F2168FCE0}"/>
              </a:ext>
            </a:extLst>
          </p:cNvPr>
          <p:cNvSpPr txBox="1"/>
          <p:nvPr/>
        </p:nvSpPr>
        <p:spPr>
          <a:xfrm>
            <a:off x="269552" y="120232"/>
            <a:ext cx="2073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42354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Chart&#10;&#10;AI-generated content may be incorrect.">
            <a:extLst>
              <a:ext uri="{FF2B5EF4-FFF2-40B4-BE49-F238E27FC236}">
                <a16:creationId xmlns:a16="http://schemas.microsoft.com/office/drawing/2014/main" id="{BEDB8FD3-46DD-15CC-814B-7E831175C4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83" r="3413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341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DD158F-8471-2E3F-AB7C-7CE31CCB5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B1D89A-E4D2-55D0-C330-24F7E274A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01" y="2069568"/>
            <a:ext cx="3517119" cy="271886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21D96F3-50EE-1EE4-7D05-9AE25C2FA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607" y="2062700"/>
            <a:ext cx="3537345" cy="273259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DC6CC39-F09C-5BD3-A019-6B9E22ADB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30" y="2069568"/>
            <a:ext cx="3517120" cy="27188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1817F8-1932-FF4C-DAE7-13254C9BA653}"/>
              </a:ext>
            </a:extLst>
          </p:cNvPr>
          <p:cNvSpPr txBox="1"/>
          <p:nvPr/>
        </p:nvSpPr>
        <p:spPr>
          <a:xfrm>
            <a:off x="220717" y="325821"/>
            <a:ext cx="1188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FRSEAICE</a:t>
            </a:r>
          </a:p>
        </p:txBody>
      </p:sp>
    </p:spTree>
    <p:extLst>
      <p:ext uri="{BB962C8B-B14F-4D97-AF65-F5344CB8AC3E}">
        <p14:creationId xmlns:p14="http://schemas.microsoft.com/office/powerpoint/2010/main" val="227583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4E41E-2BF0-3635-421D-F93782138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F75CCA-20E6-2A19-6723-7E5DFAAEF14E}"/>
              </a:ext>
            </a:extLst>
          </p:cNvPr>
          <p:cNvGraphicFramePr>
            <a:graphicFrameLocks noGrp="1"/>
          </p:cNvGraphicFramePr>
          <p:nvPr/>
        </p:nvGraphicFramePr>
        <p:xfrm>
          <a:off x="1447539" y="866621"/>
          <a:ext cx="8833885" cy="550069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766777">
                  <a:extLst>
                    <a:ext uri="{9D8B030D-6E8A-4147-A177-3AD203B41FA5}">
                      <a16:colId xmlns:a16="http://schemas.microsoft.com/office/drawing/2014/main" val="151353926"/>
                    </a:ext>
                  </a:extLst>
                </a:gridCol>
                <a:gridCol w="1736825">
                  <a:extLst>
                    <a:ext uri="{9D8B030D-6E8A-4147-A177-3AD203B41FA5}">
                      <a16:colId xmlns:a16="http://schemas.microsoft.com/office/drawing/2014/main" val="1725171146"/>
                    </a:ext>
                  </a:extLst>
                </a:gridCol>
                <a:gridCol w="1796729">
                  <a:extLst>
                    <a:ext uri="{9D8B030D-6E8A-4147-A177-3AD203B41FA5}">
                      <a16:colId xmlns:a16="http://schemas.microsoft.com/office/drawing/2014/main" val="1003890365"/>
                    </a:ext>
                  </a:extLst>
                </a:gridCol>
                <a:gridCol w="1766777">
                  <a:extLst>
                    <a:ext uri="{9D8B030D-6E8A-4147-A177-3AD203B41FA5}">
                      <a16:colId xmlns:a16="http://schemas.microsoft.com/office/drawing/2014/main" val="1700647160"/>
                    </a:ext>
                  </a:extLst>
                </a:gridCol>
                <a:gridCol w="1766777">
                  <a:extLst>
                    <a:ext uri="{9D8B030D-6E8A-4147-A177-3AD203B41FA5}">
                      <a16:colId xmlns:a16="http://schemas.microsoft.com/office/drawing/2014/main" val="265274899"/>
                    </a:ext>
                  </a:extLst>
                </a:gridCol>
              </a:tblGrid>
              <a:tr h="3622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exp_name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parameter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Reference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Perturbed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Optimized (% Change)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3497782212"/>
                  </a:ext>
                </a:extLst>
              </a:tr>
              <a:tr h="3622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GF03_ENTR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ENTR_DP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0.0001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0.0004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0.0003775 (+277.54%)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3228687571"/>
                  </a:ext>
                </a:extLst>
              </a:tr>
              <a:tr h="2079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GF04_WBF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WBFFACTOR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0.091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0.3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0.232 (+154.92%)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1991787182"/>
                  </a:ext>
                </a:extLst>
              </a:tr>
              <a:tr h="2079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GF14_RKM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RKM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8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12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15.28 (+90.96%)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3744265108"/>
                  </a:ext>
                </a:extLst>
              </a:tr>
              <a:tr h="2079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GF15_AUT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AUT_SCALE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1.7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0.5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0.2404 (-85.86%)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1778279481"/>
                  </a:ext>
                </a:extLst>
              </a:tr>
              <a:tr h="3622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GF13_QRC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QRC_CRIT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0.0002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0.0004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4.669e-05 (-76.65%)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650763712"/>
                  </a:ext>
                </a:extLst>
              </a:tr>
              <a:tr h="2079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GF09_MINCN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MINCDNC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52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25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66.03 (+26.98%)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4292313010"/>
                  </a:ext>
                </a:extLst>
              </a:tr>
              <a:tr h="3622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GF07_DCNV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DROPSZCNV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2.5e-5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5e-5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1.893e-05 (-24.28%)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1362389503"/>
                  </a:ext>
                </a:extLst>
              </a:tr>
              <a:tr h="2079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GF16_UIS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UISCALE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0.75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1.229 (+22.86%)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3384524894"/>
                  </a:ext>
                </a:extLst>
              </a:tr>
              <a:tr h="2079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GF19_BMDL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VSLfactor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0.8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1.186 (+18.57%)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3702396609"/>
                  </a:ext>
                </a:extLst>
              </a:tr>
              <a:tr h="2079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GF06_DUST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FDROP_DUST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0.5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0.1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0.5886 (+17.73%)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1902494183"/>
                  </a:ext>
                </a:extLst>
              </a:tr>
              <a:tr h="3622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GF20_CH1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Charnok1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2.03e-06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2.842e-06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1.775e-06 (-12.58%)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2344224237"/>
                  </a:ext>
                </a:extLst>
              </a:tr>
              <a:tr h="2079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GF22_CQF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CQfactor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0.5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0.8877 (-11.23%)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3239043395"/>
                  </a:ext>
                </a:extLst>
              </a:tr>
              <a:tr h="2079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GF21_CH2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Charnok2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0.00215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0.00315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0.002309 (+7.39%)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627103754"/>
                  </a:ext>
                </a:extLst>
              </a:tr>
              <a:tr h="2079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GF11_TRBKH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TURB_KHRADFAC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0.85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0.5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0.8188 (-3.68%)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2699896803"/>
                  </a:ext>
                </a:extLst>
              </a:tr>
              <a:tr h="2079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GF12_MINRH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MINRHCRIT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0.89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0.8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0.8597 (-3.40%)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3131247960"/>
                  </a:ext>
                </a:extLst>
              </a:tr>
              <a:tr h="3622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GF05_DCS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DCS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0.00029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0.00025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0.0002971 (+2.44%)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3863805755"/>
                  </a:ext>
                </a:extLst>
              </a:tr>
              <a:tr h="2079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GF08_FSOOT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FDROP_SOOT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0.05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0.09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0.04942 (-1.15%)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3889306405"/>
                  </a:ext>
                </a:extLst>
              </a:tr>
              <a:tr h="2079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GF02_TURN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TURNRHCRIT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726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850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734.3 (+1.15%)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3810226243"/>
                  </a:ext>
                </a:extLst>
              </a:tr>
              <a:tr h="2079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GF10_TBRAD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TURB_BETA_RAD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0.2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0.3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0.2015 (+0.74%)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3190591011"/>
                  </a:ext>
                </a:extLst>
              </a:tr>
              <a:tr h="2079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GF18_ALBICEV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ALBICEV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0.78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0.73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0.7759 (-0.52%)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3406241830"/>
                  </a:ext>
                </a:extLst>
              </a:tr>
              <a:tr h="2079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GF17_CAHMAX</a:t>
                      </a:r>
                      <a:endParaRPr lang="en-US" sz="800">
                        <a:effectLst/>
                      </a:endParaRP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CICE_AH_MAX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0.3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0.2</a:t>
                      </a:r>
                    </a:p>
                  </a:txBody>
                  <a:tcPr marL="42394" marR="42394" marT="21197" marB="211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0.2987 (-0.42%)</a:t>
                      </a:r>
                    </a:p>
                  </a:txBody>
                  <a:tcPr marL="42394" marR="42394" marT="21197" marB="21197" anchor="ctr"/>
                </a:tc>
                <a:extLst>
                  <a:ext uri="{0D108BD9-81ED-4DB2-BD59-A6C34878D82A}">
                    <a16:rowId xmlns:a16="http://schemas.microsoft.com/office/drawing/2014/main" val="130219029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D5BA500-BB0B-612B-2060-99FDE7DC598D}"/>
              </a:ext>
            </a:extLst>
          </p:cNvPr>
          <p:cNvSpPr txBox="1"/>
          <p:nvPr/>
        </p:nvSpPr>
        <p:spPr>
          <a:xfrm>
            <a:off x="269552" y="120232"/>
            <a:ext cx="37587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OptimizedParameters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3584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9ADD0-DEE8-B795-FE8C-2EA9CC6D1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68934D-EC85-D69D-5276-1BF663C68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98042"/>
            <a:ext cx="10905066" cy="466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22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5D8B9-C845-62E8-454B-D9A06C72A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, bar chart&#10;&#10;AI-generated content may be incorrect.">
            <a:extLst>
              <a:ext uri="{FF2B5EF4-FFF2-40B4-BE49-F238E27FC236}">
                <a16:creationId xmlns:a16="http://schemas.microsoft.com/office/drawing/2014/main" id="{FEDF21DC-90EF-5CD4-A370-BD181A1CB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444" y="643466"/>
            <a:ext cx="928511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52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rt, line chart&#10;&#10;AI-generated content may be incorrect.">
            <a:extLst>
              <a:ext uri="{FF2B5EF4-FFF2-40B4-BE49-F238E27FC236}">
                <a16:creationId xmlns:a16="http://schemas.microsoft.com/office/drawing/2014/main" id="{52BDF6FE-7816-FABC-E621-A17C7D75E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57" y="755431"/>
            <a:ext cx="10694276" cy="53471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D76E6D-A385-4D41-5F21-6272EDE6AE76}"/>
              </a:ext>
            </a:extLst>
          </p:cNvPr>
          <p:cNvSpPr txBox="1"/>
          <p:nvPr/>
        </p:nvSpPr>
        <p:spPr>
          <a:xfrm>
            <a:off x="269552" y="120232"/>
            <a:ext cx="2734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Global mean TS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30750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B58B0-B445-C707-F684-397F46F0C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3DD080-3B6E-5AFD-CC00-01E5744D1D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48557" y="755431"/>
            <a:ext cx="10694276" cy="53471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04A864-BB98-30E2-6C16-EA6E32A1D0C2}"/>
              </a:ext>
            </a:extLst>
          </p:cNvPr>
          <p:cNvSpPr txBox="1"/>
          <p:nvPr/>
        </p:nvSpPr>
        <p:spPr>
          <a:xfrm>
            <a:off x="269552" y="120232"/>
            <a:ext cx="2734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Global mean TS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29798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A6B25-0DE6-1F5D-AA0C-A68B0C076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1246F8B-714C-AF84-8306-9464776501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48557" y="755431"/>
            <a:ext cx="10694276" cy="53471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D3E905-D6BD-75A1-1B2D-683041B12F19}"/>
              </a:ext>
            </a:extLst>
          </p:cNvPr>
          <p:cNvSpPr txBox="1"/>
          <p:nvPr/>
        </p:nvSpPr>
        <p:spPr>
          <a:xfrm>
            <a:off x="269552" y="120232"/>
            <a:ext cx="2734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Global mean TS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906483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9A2C8-834B-7F09-2B44-43BC45AD2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F73385-4180-1815-B97E-7AFD10AD7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48557" y="755431"/>
            <a:ext cx="10694276" cy="53471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B1A63E-ECBD-35BE-7023-664AD985B676}"/>
              </a:ext>
            </a:extLst>
          </p:cNvPr>
          <p:cNvSpPr txBox="1"/>
          <p:nvPr/>
        </p:nvSpPr>
        <p:spPr>
          <a:xfrm>
            <a:off x="269552" y="120232"/>
            <a:ext cx="29470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Global mean SST</a:t>
            </a:r>
          </a:p>
        </p:txBody>
      </p:sp>
    </p:spTree>
    <p:extLst>
      <p:ext uri="{BB962C8B-B14F-4D97-AF65-F5344CB8AC3E}">
        <p14:creationId xmlns:p14="http://schemas.microsoft.com/office/powerpoint/2010/main" val="327549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657EC-7BE4-C4D0-5AF5-F81C4EE4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0B7F1A-D0EC-AD12-DF56-D6EB5B01EF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48557" y="755431"/>
            <a:ext cx="10694276" cy="53471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C9D7C4-AB25-1405-822F-565282D45340}"/>
              </a:ext>
            </a:extLst>
          </p:cNvPr>
          <p:cNvSpPr txBox="1"/>
          <p:nvPr/>
        </p:nvSpPr>
        <p:spPr>
          <a:xfrm>
            <a:off x="269552" y="120232"/>
            <a:ext cx="29470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Global mean SST</a:t>
            </a:r>
          </a:p>
        </p:txBody>
      </p:sp>
    </p:spTree>
    <p:extLst>
      <p:ext uri="{BB962C8B-B14F-4D97-AF65-F5344CB8AC3E}">
        <p14:creationId xmlns:p14="http://schemas.microsoft.com/office/powerpoint/2010/main" val="607847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30EB3-B215-5CB3-6229-E0CEF78F0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8C5C2C-41CB-3B2B-2D2A-0CE6D54E256D}"/>
              </a:ext>
            </a:extLst>
          </p:cNvPr>
          <p:cNvSpPr txBox="1"/>
          <p:nvPr/>
        </p:nvSpPr>
        <p:spPr>
          <a:xfrm>
            <a:off x="269552" y="120232"/>
            <a:ext cx="3463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Hardcoded Shallow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316BC4-694E-4017-13BF-EC17994D7522}"/>
              </a:ext>
            </a:extLst>
          </p:cNvPr>
          <p:cNvSpPr txBox="1"/>
          <p:nvPr/>
        </p:nvSpPr>
        <p:spPr>
          <a:xfrm>
            <a:off x="388883" y="200891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3B3B3B"/>
                </a:solidFill>
                <a:effectLst/>
                <a:latin typeface="Courier New" panose="02070309020205020404" pitchFamily="49" charset="0"/>
              </a:rPr>
              <a:t>if (LM==72) then</a:t>
            </a:r>
          </a:p>
          <a:p>
            <a:pPr algn="l">
              <a:buNone/>
            </a:pPr>
            <a:r>
              <a:rPr lang="en-US" b="0" i="0" dirty="0">
                <a:solidFill>
                  <a:srgbClr val="3B3B3B"/>
                </a:solidFill>
                <a:effectLst/>
                <a:latin typeface="Courier New" panose="02070309020205020404" pitchFamily="49" charset="0"/>
              </a:rPr>
              <a:t>call </a:t>
            </a:r>
            <a:r>
              <a:rPr lang="en-US" b="0" i="0" dirty="0" err="1">
                <a:solidFill>
                  <a:srgbClr val="3B3B3B"/>
                </a:solidFill>
                <a:effectLst/>
                <a:latin typeface="Courier New" panose="02070309020205020404" pitchFamily="49" charset="0"/>
              </a:rPr>
              <a:t>MAPL_GetResource</a:t>
            </a:r>
            <a:r>
              <a:rPr lang="en-US" b="0" i="0" dirty="0">
                <a:solidFill>
                  <a:srgbClr val="3B3B3B"/>
                </a:solidFill>
                <a:effectLst/>
                <a:latin typeface="Courier New" panose="02070309020205020404" pitchFamily="49" charset="0"/>
              </a:rPr>
              <a:t>(MAPL, JASON_UW, '</a:t>
            </a:r>
            <a:r>
              <a:rPr lang="en-US" b="0" i="0" dirty="0" err="1">
                <a:solidFill>
                  <a:srgbClr val="3B3B3B"/>
                </a:solidFill>
                <a:effectLst/>
                <a:latin typeface="Courier New" panose="02070309020205020404" pitchFamily="49" charset="0"/>
              </a:rPr>
              <a:t>JASON_UW:',default</a:t>
            </a:r>
            <a:r>
              <a:rPr lang="en-US" b="0" i="0" dirty="0">
                <a:solidFill>
                  <a:srgbClr val="3B3B3B"/>
                </a:solidFill>
                <a:effectLst/>
                <a:latin typeface="Courier New" panose="02070309020205020404" pitchFamily="49" charset="0"/>
              </a:rPr>
              <a:t>= .TRUE. , RC=STATUS)</a:t>
            </a:r>
          </a:p>
          <a:p>
            <a:pPr algn="l">
              <a:buNone/>
            </a:pPr>
            <a:r>
              <a:rPr lang="en-US" b="0" i="0" dirty="0">
                <a:solidFill>
                  <a:srgbClr val="3B3B3B"/>
                </a:solidFill>
                <a:effectLst/>
                <a:latin typeface="Courier New" panose="02070309020205020404" pitchFamily="49" charset="0"/>
              </a:rPr>
              <a:t>else</a:t>
            </a:r>
          </a:p>
          <a:p>
            <a:pPr algn="l">
              <a:buNone/>
            </a:pPr>
            <a:r>
              <a:rPr lang="en-US" b="0" i="0" dirty="0">
                <a:solidFill>
                  <a:srgbClr val="3B3B3B"/>
                </a:solidFill>
                <a:effectLst/>
                <a:latin typeface="Courier New" panose="02070309020205020404" pitchFamily="49" charset="0"/>
              </a:rPr>
              <a:t>call </a:t>
            </a:r>
            <a:r>
              <a:rPr lang="en-US" b="0" i="0" dirty="0" err="1">
                <a:solidFill>
                  <a:srgbClr val="3B3B3B"/>
                </a:solidFill>
                <a:effectLst/>
                <a:latin typeface="Courier New" panose="02070309020205020404" pitchFamily="49" charset="0"/>
              </a:rPr>
              <a:t>MAPL_GetResource</a:t>
            </a:r>
            <a:r>
              <a:rPr lang="en-US" b="0" i="0" dirty="0">
                <a:solidFill>
                  <a:srgbClr val="3B3B3B"/>
                </a:solidFill>
                <a:effectLst/>
                <a:latin typeface="Courier New" panose="02070309020205020404" pitchFamily="49" charset="0"/>
              </a:rPr>
              <a:t>(MAPL, JASON_UW, '</a:t>
            </a:r>
            <a:r>
              <a:rPr lang="en-US" b="0" i="0" dirty="0" err="1">
                <a:solidFill>
                  <a:srgbClr val="3B3B3B"/>
                </a:solidFill>
                <a:effectLst/>
                <a:latin typeface="Courier New" panose="02070309020205020404" pitchFamily="49" charset="0"/>
              </a:rPr>
              <a:t>JASON_UW:',default</a:t>
            </a:r>
            <a:r>
              <a:rPr lang="en-US" b="0" i="0" dirty="0">
                <a:solidFill>
                  <a:srgbClr val="3B3B3B"/>
                </a:solidFill>
                <a:effectLst/>
                <a:latin typeface="Courier New" panose="02070309020205020404" pitchFamily="49" charset="0"/>
              </a:rPr>
              <a:t>= .FALSE., RC=STATUS)</a:t>
            </a:r>
          </a:p>
          <a:p>
            <a:pPr algn="l">
              <a:buNone/>
            </a:pPr>
            <a:r>
              <a:rPr lang="en-US" b="0" i="0" dirty="0">
                <a:solidFill>
                  <a:srgbClr val="3B3B3B"/>
                </a:solidFill>
                <a:effectLst/>
                <a:latin typeface="Courier New" panose="02070309020205020404" pitchFamily="49" charset="0"/>
              </a:rPr>
              <a:t>endif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67B070-9BF8-B1C4-BC3B-6CC84DA8599C}"/>
              </a:ext>
            </a:extLst>
          </p:cNvPr>
          <p:cNvSpPr txBox="1"/>
          <p:nvPr/>
        </p:nvSpPr>
        <p:spPr>
          <a:xfrm>
            <a:off x="388883" y="9761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3B3B3B"/>
                </a:solidFill>
                <a:effectLst/>
                <a:latin typeface="-apple-system"/>
              </a:rPr>
              <a:t>GEOS_UW_InterfaceMod.F90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A162F3-6E9E-DBD5-B854-4F901478C5AB}"/>
              </a:ext>
            </a:extLst>
          </p:cNvPr>
          <p:cNvSpPr txBox="1"/>
          <p:nvPr/>
        </p:nvSpPr>
        <p:spPr>
          <a:xfrm>
            <a:off x="6001407" y="312762"/>
            <a:ext cx="6096000" cy="6232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 if (JASON_UW) then</a:t>
            </a:r>
          </a:p>
          <a:p>
            <a:r>
              <a:rPr lang="en-US" sz="1050" dirty="0"/>
              <a:t>      call </a:t>
            </a:r>
            <a:r>
              <a:rPr lang="en-US" sz="1050" dirty="0" err="1"/>
              <a:t>MAPL_GetResource</a:t>
            </a:r>
            <a:r>
              <a:rPr lang="en-US" sz="1050" dirty="0"/>
              <a:t>(MAPL, SHLWPARAMS%WINDSRCAVG,       'WINDSRCAVG:'      ,DEFAULT=0,      RC=STATUS) ; VERIFY_(STATUS)</a:t>
            </a:r>
          </a:p>
          <a:p>
            <a:r>
              <a:rPr lang="en-US" sz="1050" dirty="0"/>
              <a:t>      call </a:t>
            </a:r>
            <a:r>
              <a:rPr lang="en-US" sz="1050" dirty="0" err="1"/>
              <a:t>MAPL_GetResource</a:t>
            </a:r>
            <a:r>
              <a:rPr lang="en-US" sz="1050" dirty="0"/>
              <a:t>(MAPL, SHLWPARAMS%MIXSCALE,         'MIXSCALE:'        ,DEFAULT=0.0,    RC=STATUS) ; VERIFY_(STATUS)</a:t>
            </a:r>
          </a:p>
          <a:p>
            <a:r>
              <a:rPr lang="en-US" sz="1050" dirty="0"/>
              <a:t>      call </a:t>
            </a:r>
            <a:r>
              <a:rPr lang="en-US" sz="1050" dirty="0" err="1"/>
              <a:t>MAPL_GetResource</a:t>
            </a:r>
            <a:r>
              <a:rPr lang="en-US" sz="1050" dirty="0"/>
              <a:t>(MAPL, SHLWPARAMS%CRIQC,            'CRIQC:'           ,DEFAULT=1.0e-3, RC=STATUS) ; VERIFY_(STATUS)</a:t>
            </a:r>
          </a:p>
          <a:p>
            <a:r>
              <a:rPr lang="en-US" sz="1050" dirty="0"/>
              <a:t>      call </a:t>
            </a:r>
            <a:r>
              <a:rPr lang="en-US" sz="1050" dirty="0" err="1"/>
              <a:t>MAPL_GetResource</a:t>
            </a:r>
            <a:r>
              <a:rPr lang="en-US" sz="1050" dirty="0"/>
              <a:t>(MAPL, SHLWPARAMS%THLSRC_FAC,       'THLSRC_FAC:'      ,DEFAULT= 0.0,   RC=STATUS) ; VERIFY_(STATUS)</a:t>
            </a:r>
          </a:p>
          <a:p>
            <a:r>
              <a:rPr lang="en-US" sz="1050" dirty="0"/>
              <a:t>    else</a:t>
            </a:r>
          </a:p>
          <a:p>
            <a:r>
              <a:rPr lang="en-US" sz="1050" dirty="0"/>
              <a:t>      call </a:t>
            </a:r>
            <a:r>
              <a:rPr lang="en-US" sz="1050" dirty="0" err="1"/>
              <a:t>MAPL_GetResource</a:t>
            </a:r>
            <a:r>
              <a:rPr lang="en-US" sz="1050" dirty="0"/>
              <a:t>(MAPL, SHLWPARAMS%WINDSRCAVG,       'WINDSRCAVG:'      ,DEFAULT=1,      RC=STATUS) ; VERIFY_(STATUS)</a:t>
            </a:r>
          </a:p>
          <a:p>
            <a:r>
              <a:rPr lang="en-US" sz="1050" dirty="0"/>
              <a:t>      call </a:t>
            </a:r>
            <a:r>
              <a:rPr lang="en-US" sz="1050" dirty="0" err="1"/>
              <a:t>MAPL_GetResource</a:t>
            </a:r>
            <a:r>
              <a:rPr lang="en-US" sz="1050" dirty="0"/>
              <a:t>(MAPL, SHLWPARAMS%MIXSCALE,         'MIXSCALE:'        ,DEFAULT=3000.0, RC=STATUS) ; VERIFY_(STATUS)</a:t>
            </a:r>
          </a:p>
          <a:p>
            <a:r>
              <a:rPr lang="en-US" sz="1050" dirty="0"/>
              <a:t>      call </a:t>
            </a:r>
            <a:r>
              <a:rPr lang="en-US" sz="1050" dirty="0" err="1"/>
              <a:t>MAPL_GetResource</a:t>
            </a:r>
            <a:r>
              <a:rPr lang="en-US" sz="1050" dirty="0"/>
              <a:t>(MAPL, SHLWPARAMS%CRIQC,            'CRIQC:'           ,DEFAULT=0.9e-3, RC=STATUS) ; VERIFY_(STATUS)</a:t>
            </a:r>
          </a:p>
          <a:p>
            <a:r>
              <a:rPr lang="en-US" sz="1050" dirty="0"/>
              <a:t>      call </a:t>
            </a:r>
            <a:r>
              <a:rPr lang="en-US" sz="1050" dirty="0" err="1"/>
              <a:t>MAPL_GetResource</a:t>
            </a:r>
            <a:r>
              <a:rPr lang="en-US" sz="1050" dirty="0"/>
              <a:t>(MAPL, SHLWPARAMS%THLSRC_FAC,       'THLSRC_FAC:'      ,DEFAULT= 1.0,   RC=STATUS) ; VERIFY_(STATUS)</a:t>
            </a:r>
          </a:p>
          <a:p>
            <a:r>
              <a:rPr lang="en-US" sz="1050" dirty="0"/>
              <a:t>    endif</a:t>
            </a:r>
          </a:p>
          <a:p>
            <a:r>
              <a:rPr lang="en-US" sz="1050" dirty="0"/>
              <a:t>    if (JASON_UW) then</a:t>
            </a:r>
          </a:p>
          <a:p>
            <a:r>
              <a:rPr lang="en-US" sz="1050" dirty="0"/>
              <a:t>      call </a:t>
            </a:r>
            <a:r>
              <a:rPr lang="en-US" sz="1050" dirty="0" err="1"/>
              <a:t>MAPL_GetResource</a:t>
            </a:r>
            <a:r>
              <a:rPr lang="en-US" sz="1050" dirty="0"/>
              <a:t>(MAPL, SHLWPARAMS%FRC_RASN,         'FRC_RASN:'        ,DEFAULT= 0.0,   RC=STATUS) ; VERIFY_(STATUS)</a:t>
            </a:r>
          </a:p>
          <a:p>
            <a:r>
              <a:rPr lang="en-US" sz="1050" dirty="0"/>
              <a:t>      call </a:t>
            </a:r>
            <a:r>
              <a:rPr lang="en-US" sz="1050" dirty="0" err="1"/>
              <a:t>MAPL_GetResource</a:t>
            </a:r>
            <a:r>
              <a:rPr lang="en-US" sz="1050" dirty="0"/>
              <a:t>(MAPL, SHLWPARAMS%RKM,              'RKM:'             ,DEFAULT= 12.0,  RC=STATUS) ; VERIFY_(STATUS)</a:t>
            </a:r>
          </a:p>
          <a:p>
            <a:r>
              <a:rPr lang="en-US" sz="1050" dirty="0"/>
              <a:t>      call </a:t>
            </a:r>
            <a:r>
              <a:rPr lang="en-US" sz="1050" dirty="0" err="1"/>
              <a:t>MAPL_GetResource</a:t>
            </a:r>
            <a:r>
              <a:rPr lang="en-US" sz="1050" dirty="0"/>
              <a:t>(MAPL, SHLWPARAMS%RPEN,             'RPEN:'            ,DEFAULT= 3.0,   RC=STATUS) ; VERIFY_(STATUS)</a:t>
            </a:r>
          </a:p>
          <a:p>
            <a:r>
              <a:rPr lang="en-US" sz="1050" dirty="0"/>
              <a:t>      call </a:t>
            </a:r>
            <a:r>
              <a:rPr lang="en-US" sz="1050" dirty="0" err="1"/>
              <a:t>MAPL_GetResource</a:t>
            </a:r>
            <a:r>
              <a:rPr lang="en-US" sz="1050" dirty="0"/>
              <a:t>(MAPL, SCLM_SHALLOW,                'SCLM_SHALLOW:'    ,DEFAULT= 1.0,   RC=STATUS) ; VERIFY_(STATUS)</a:t>
            </a:r>
          </a:p>
          <a:p>
            <a:r>
              <a:rPr lang="en-US" sz="1050" dirty="0"/>
              <a:t>    else</a:t>
            </a:r>
          </a:p>
          <a:p>
            <a:r>
              <a:rPr lang="en-US" sz="1050" dirty="0"/>
              <a:t>      call </a:t>
            </a:r>
            <a:r>
              <a:rPr lang="en-US" sz="1050" dirty="0" err="1"/>
              <a:t>MAPL_GetResource</a:t>
            </a:r>
            <a:r>
              <a:rPr lang="en-US" sz="1050" dirty="0"/>
              <a:t>(MAPL, SHLWPARAMS%FRC_RASN,         'FRC_RASN:'        ,DEFAULT= 1.0,   RC=STATUS) ; VERIFY_(STATUS)</a:t>
            </a:r>
          </a:p>
          <a:p>
            <a:r>
              <a:rPr lang="en-US" sz="1050" dirty="0"/>
              <a:t>      call </a:t>
            </a:r>
            <a:r>
              <a:rPr lang="en-US" sz="1050" dirty="0" err="1"/>
              <a:t>MAPL_GetResource</a:t>
            </a:r>
            <a:r>
              <a:rPr lang="en-US" sz="1050" dirty="0"/>
              <a:t>(MAPL, SHLWPARAMS%RKM,              'RKM:'             ,DEFAULT= 8.0,   RC=STATUS) ; VERIFY_(STATUS)</a:t>
            </a:r>
          </a:p>
          <a:p>
            <a:r>
              <a:rPr lang="en-US" sz="1050" dirty="0"/>
              <a:t>      call </a:t>
            </a:r>
            <a:r>
              <a:rPr lang="en-US" sz="1050" dirty="0" err="1"/>
              <a:t>MAPL_GetResource</a:t>
            </a:r>
            <a:r>
              <a:rPr lang="en-US" sz="1050" dirty="0"/>
              <a:t>(MAPL, SHLWPARAMS%RPEN,             'RPEN:'            ,DEFAULT= 3.0,   RC=STATUS) ; VERIFY_(STATUS)</a:t>
            </a:r>
          </a:p>
          <a:p>
            <a:r>
              <a:rPr lang="en-US" sz="1050" dirty="0"/>
              <a:t>      call </a:t>
            </a:r>
            <a:r>
              <a:rPr lang="en-US" sz="1050" dirty="0" err="1"/>
              <a:t>MAPL_GetResource</a:t>
            </a:r>
            <a:r>
              <a:rPr lang="en-US" sz="1050" dirty="0"/>
              <a:t>(MAPL, SCLM_SHALLOW,                'SCLM_SHALLOW:'    ,DEFAULT= 1.0,   RC=STATUS) ; VERIFY_(STATUS)</a:t>
            </a:r>
          </a:p>
          <a:p>
            <a:r>
              <a:rPr lang="en-US" sz="1050" dirty="0"/>
              <a:t>    endif</a:t>
            </a:r>
          </a:p>
        </p:txBody>
      </p:sp>
    </p:spTree>
    <p:extLst>
      <p:ext uri="{BB962C8B-B14F-4D97-AF65-F5344CB8AC3E}">
        <p14:creationId xmlns:p14="http://schemas.microsoft.com/office/powerpoint/2010/main" val="16142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32BB7-FCDB-189C-C452-37295C77A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E3422A9-ADAC-5CFA-5199-88C08DB2E9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48557" y="755431"/>
            <a:ext cx="10694276" cy="53471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CE49B6-CE31-6FCA-BC49-80B0FCD68CDB}"/>
              </a:ext>
            </a:extLst>
          </p:cNvPr>
          <p:cNvSpPr txBox="1"/>
          <p:nvPr/>
        </p:nvSpPr>
        <p:spPr>
          <a:xfrm>
            <a:off x="269552" y="120232"/>
            <a:ext cx="29470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Global mean SST</a:t>
            </a:r>
          </a:p>
        </p:txBody>
      </p:sp>
    </p:spTree>
    <p:extLst>
      <p:ext uri="{BB962C8B-B14F-4D97-AF65-F5344CB8AC3E}">
        <p14:creationId xmlns:p14="http://schemas.microsoft.com/office/powerpoint/2010/main" val="151888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3FE1B-AD5C-1D81-6C55-DE3C8ABED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D983AA-CBDE-A503-C313-868D152CC3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1203" y="519959"/>
            <a:ext cx="9316197" cy="61724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1B84A7-A64A-66F4-DFCA-7A06EBA740EB}"/>
              </a:ext>
            </a:extLst>
          </p:cNvPr>
          <p:cNvSpPr txBox="1"/>
          <p:nvPr/>
        </p:nvSpPr>
        <p:spPr>
          <a:xfrm>
            <a:off x="273269" y="199697"/>
            <a:ext cx="11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3760D5-EAF9-8012-4CCB-67D915A0D87B}"/>
              </a:ext>
            </a:extLst>
          </p:cNvPr>
          <p:cNvSpPr txBox="1"/>
          <p:nvPr/>
        </p:nvSpPr>
        <p:spPr>
          <a:xfrm>
            <a:off x="9708931" y="1038932"/>
            <a:ext cx="2121866" cy="4412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var_weights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'FRSEAICE'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'H500'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'LWGNET'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'SWGNET'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'SALT_300m'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0.8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'THETA_300m'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0.8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'THETA_0m'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'SALT_0m'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0.8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'T2M'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1.2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'T300'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'U200’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dirty="0">
                <a:solidFill>
                  <a:srgbClr val="098658"/>
                </a:solidFill>
                <a:latin typeface="Menlo" panose="020B0609030804020204" pitchFamily="49" charset="0"/>
              </a:rPr>
              <a:t>7</a:t>
            </a:r>
            <a:endParaRPr lang="en-US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3831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CE76F-4731-7D20-B28B-F8F6FA27E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E209C8-4949-BF97-0457-A38E3C9F27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7099" y="1098042"/>
            <a:ext cx="10877801" cy="466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5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B3CDE-2D46-9F43-5662-425125BC3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B5EC23-800B-0347-27EC-AD169455F2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569894"/>
            <a:ext cx="9285111" cy="55710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BB2E9F-BA3A-E1F3-2B44-D036DF2A1075}"/>
              </a:ext>
            </a:extLst>
          </p:cNvPr>
          <p:cNvSpPr txBox="1"/>
          <p:nvPr/>
        </p:nvSpPr>
        <p:spPr>
          <a:xfrm>
            <a:off x="9708931" y="1038932"/>
            <a:ext cx="6096000" cy="4412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var_weights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'FRSEAICE'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'H500'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'LWGNET'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'SWGNET'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'SALT_300m'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0.8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'THETA_300m'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0.8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'THETA_0m'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'SALT_0m'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0.8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'T2M'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1.2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'T300'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A3151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'U200’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dirty="0">
                <a:solidFill>
                  <a:srgbClr val="098658"/>
                </a:solidFill>
                <a:latin typeface="Menlo" panose="020B0609030804020204" pitchFamily="49" charset="0"/>
              </a:rPr>
              <a:t>7</a:t>
            </a:r>
            <a:endParaRPr lang="en-US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10059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1484</Words>
  <Application>Microsoft Macintosh PowerPoint</Application>
  <PresentationFormat>Widescreen</PresentationFormat>
  <Paragraphs>356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-apple-system</vt:lpstr>
      <vt:lpstr>Aptos</vt:lpstr>
      <vt:lpstr>Aptos Display</vt:lpstr>
      <vt:lpstr>Arial</vt:lpstr>
      <vt:lpstr>Cambria Math</vt:lpstr>
      <vt:lpstr>Courier New</vt:lpstr>
      <vt:lpstr>KaTeX_Main</vt:lpstr>
      <vt:lpstr>Menlo</vt:lpstr>
      <vt:lpstr>Times New Roman</vt:lpstr>
      <vt:lpstr>Office Theme</vt:lpstr>
      <vt:lpstr>Green’s Function Optimization (GFO)   GEOS-MITgcm v11.7.0 C90-LLC90-LM91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Fahad, Abdullah Al (GSFC-610.1)[UNIV OF MARYLAND COLLEGE PARK]</dc:creator>
  <cp:lastModifiedBy>Fahad, Abdullah Al (GSFC-610.1)[UNIV OF MARYLAND COLLEGE PARK]</cp:lastModifiedBy>
  <cp:revision>4</cp:revision>
  <dcterms:created xsi:type="dcterms:W3CDTF">2026-01-08T17:09:09Z</dcterms:created>
  <dcterms:modified xsi:type="dcterms:W3CDTF">2026-02-23T19:42:53Z</dcterms:modified>
</cp:coreProperties>
</file>